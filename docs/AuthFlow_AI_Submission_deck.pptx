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793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tllkBOpSIo+foDNAV8ppHfAkj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72550-EF59-46E0-827C-C5B7B6B1D680}">
  <a:tblStyle styleId="{D7072550-EF59-46E0-827C-C5B7B6B1D68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0BA2B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">
  <p:cSld name="Slide with log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s">
  <p:cSld name="Title and 2 Conten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2" type="body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4" type="body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" name="Google Shape;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3" type="subTitle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Dark" showMasterSp="0">
  <p:cSld name="Title and Content Dark">
    <p:bg>
      <p:bgPr>
        <a:solidFill>
          <a:schemeClr val="accen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Teal" showMasterSp="0">
  <p:cSld name="1_Title and Content Teal"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b="1" i="0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">
  <p:cSld name="Headline 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only Dark" showMasterSp="0">
  <p:cSld name="Headline only Dark">
    <p:bg>
      <p:bgPr>
        <a:solidFill>
          <a:schemeClr val="accen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line only Teal" showMasterSp="0">
  <p:cSld name="1_Headline only Teal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3" type="body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 showMasterSp="0">
  <p:cSld name="Quote Slide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rect b="b" l="l" r="r" t="t"/>
            <a:pathLst>
              <a:path extrusionOk="0" h="120000" w="2160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flipH="1" rot="10800000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>
  <p:cSld name="Content with photo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/>
          <p:nvPr>
            <p:ph idx="2" type="pic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3" type="body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idx="4" type="body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anchorCtr="0" anchor="t" bIns="317500" lIns="317500" spcFirstLastPara="1" rIns="317500" wrap="square" tIns="317500">
            <a:noAutofit/>
          </a:bodyPr>
          <a:lstStyle>
            <a:lvl1pPr indent="-228600" lvl="0" marL="45720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b="1" i="0" sz="1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4" showMasterSp="0">
  <p:cSld name="TOC Slide 4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/>
          <p:nvPr>
            <p:ph idx="2" type="body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Slide 8" showMasterSp="0">
  <p:cSld name="TOC Slide 8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>
            <p:ph idx="2" type="body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3" type="body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4" type="body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5" type="body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6" type="body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4"/>
          <p:cNvSpPr txBox="1"/>
          <p:nvPr>
            <p:ph idx="7" type="body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8" type="body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 Dark" showMasterSp="0">
  <p:cSld name="Agenda slide Table Dark"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lide Table" showMasterSp="0">
  <p:cSld name="Agenda slide Table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logo Dark" showMasterSp="0">
  <p:cSld name="Slide with logo Dark"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with logo Teal" showMasterSp="0">
  <p:cSld name="1_Slide with logo Teal">
    <p:bg>
      <p:bgPr>
        <a:solidFill>
          <a:schemeClr val="accent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>
  <p:cSld name="Thank You Slide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3" type="body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4" type="body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5" type="body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6" type="body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7" type="body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8" type="body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b="0" i="0" sz="14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1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40800" y="3608250"/>
            <a:ext cx="92466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1117"/>
                </a:solidFill>
                <a:highlight>
                  <a:srgbClr val="F0F6FC"/>
                </a:highlight>
              </a:rPr>
              <a:t>A governed, human-in-the-loop prior-authorization platform that combines a coded AI agent, BPMN orchestration, and clinical review to approve clean requests in minutes while keeping every decision with clinicians.</a:t>
            </a:r>
            <a:endParaRPr sz="1800">
              <a:solidFill>
                <a:srgbClr val="0D1117"/>
              </a:solidFill>
              <a:highlight>
                <a:srgbClr val="F0F6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169" name="Google Shape;169;p1"/>
          <p:cNvSpPr txBox="1"/>
          <p:nvPr>
            <p:ph type="title"/>
          </p:nvPr>
        </p:nvSpPr>
        <p:spPr>
          <a:xfrm>
            <a:off x="464800" y="1492775"/>
            <a:ext cx="85680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u="sng"/>
              <a:t>AuthFlow AI</a:t>
            </a:r>
            <a:endParaRPr sz="53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u="sng"/>
              <a:t/>
            </a:r>
            <a:endParaRPr sz="5300" u="sng"/>
          </a:p>
        </p:txBody>
      </p:sp>
      <p:pic>
        <p:nvPicPr>
          <p:cNvPr id="170" name="Google Shape;17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6775" y="778600"/>
            <a:ext cx="3861067" cy="21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>
                <a:solidFill>
                  <a:srgbClr val="172024"/>
                </a:solidFill>
              </a:rPr>
              <a:t>Problem statement and proposed solution</a:t>
            </a:r>
            <a:endParaRPr>
              <a:solidFill>
                <a:srgbClr val="172024"/>
              </a:solidFill>
            </a:endParaRPr>
          </a:p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78" name="Google Shape;178;p3"/>
          <p:cNvSpPr txBox="1"/>
          <p:nvPr>
            <p:ph idx="2" type="body"/>
          </p:nvPr>
        </p:nvSpPr>
        <p:spPr>
          <a:xfrm>
            <a:off x="229100" y="1952325"/>
            <a:ext cx="46167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Prior authorization is slow, manual paperwork that delays patient care for days. The hard part is not writing a letter, it is knowing what a specific payer requires and whether the chart actually meets it. Decisions must stay with clinicians, and every step must be auditable.</a:t>
            </a:r>
            <a:endParaRPr/>
          </a:p>
        </p:txBody>
      </p:sp>
      <p:sp>
        <p:nvSpPr>
          <p:cNvPr id="179" name="Google Shape;179;p3"/>
          <p:cNvSpPr txBox="1"/>
          <p:nvPr>
            <p:ph idx="3" type="body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80" name="Google Shape;180;p3"/>
          <p:cNvSpPr txBox="1"/>
          <p:nvPr>
            <p:ph idx="4" type="body"/>
          </p:nvPr>
        </p:nvSpPr>
        <p:spPr>
          <a:xfrm>
            <a:off x="6089650" y="1800000"/>
            <a:ext cx="52557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D1D1F"/>
                </a:solidFill>
                <a:highlight>
                  <a:srgbClr val="FFFFFF"/>
                </a:highlight>
              </a:rPr>
              <a:t>AuthFlow AI is a governed, long-running workflow, not a document generator. UiPath Maestro orchestrates an AI agent, a decision gateway, and clinicians end to end. A LangChain CriteriaMatch agent maps chart evidence to payer criteria, and a BPMN gateway routes each case to auto-submit, a staff task, or a clinician. When documentation is missing, the process suspends and resumes once it is supplied, agents accelerate the work, and clinicians keep the decisions.</a:t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1" name="Google Shape;181;p3"/>
          <p:cNvSpPr txBox="1"/>
          <p:nvPr/>
        </p:nvSpPr>
        <p:spPr>
          <a:xfrm>
            <a:off x="0" y="2721889"/>
            <a:ext cx="121794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88" name="Google Shape;188;p4"/>
          <p:cNvGraphicFramePr/>
          <p:nvPr/>
        </p:nvGraphicFramePr>
        <p:xfrm>
          <a:off x="259199" y="11961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{D7072550-EF59-46E0-827C-C5B7B6B1D680}</a:tableStyleId>
              </a:tblPr>
              <a:tblGrid>
                <a:gridCol w="2377850"/>
                <a:gridCol w="2761375"/>
              </a:tblGrid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b="1" i="0" sz="17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Clinics and provider prior-authorization teams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21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Utilization management / authorization staff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Healthcare payers and providers (cardiovascular)</a:t>
                      </a:r>
                      <a:endParaRPr sz="17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92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/>
                        <a:t>UiPath Maestro (BPMN) - Coded Agents (uipath-langchain) - Action Center - LLM Gateway - Orchestrator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  <a:tr h="11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b="0" i="0" lang="en-US" sz="1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700"/>
                        <a:t>LangChain / LangGraph (CriteriaMatch agent) - Python - Pydantic - built with a coding agent (Claude)</a:t>
                      </a:r>
                      <a:endParaRPr b="0" i="0" sz="17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375">
                      <a:solidFill>
                        <a:srgbClr val="DF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C4F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A2B3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4"/>
          <p:cNvSpPr/>
          <p:nvPr/>
        </p:nvSpPr>
        <p:spPr>
          <a:xfrm>
            <a:off x="359999" y="859929"/>
            <a:ext cx="10398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6438691" y="1016651"/>
            <a:ext cx="5497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Benefits, impact and outcomes</a:t>
            </a:r>
            <a:endParaRPr sz="1500"/>
          </a:p>
        </p:txBody>
      </p:sp>
      <p:sp>
        <p:nvSpPr>
          <p:cNvPr id="191" name="Google Shape;191;p4"/>
          <p:cNvSpPr txBox="1"/>
          <p:nvPr/>
        </p:nvSpPr>
        <p:spPr>
          <a:xfrm>
            <a:off x="6302301" y="1779735"/>
            <a:ext cx="55005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Clean requests can be resolved automatically in minutes; staff focus only on the cases that need a human.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Every AI decision is explainable, with evidence, confidence, and a citation to policy, and logged for audit.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The process never auto-denies; clinicians keep the decision on every ambiguous or discordant request.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1800"/>
              <a:buChar char="●"/>
            </a:pPr>
            <a:r>
              <a:rPr lang="en-US" sz="1800">
                <a:solidFill>
                  <a:srgbClr val="1D1D1F"/>
                </a:solidFill>
                <a:highlight>
                  <a:srgbClr val="FFFFFF"/>
                </a:highlight>
              </a:rPr>
              <a:t>One pipeline generalizes across specialties and payers; a new policy is a configuration change, not a rebuild.</a:t>
            </a:r>
            <a:endParaRPr sz="18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2222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"/>
          <p:cNvSpPr txBox="1"/>
          <p:nvPr>
            <p:ph idx="12" type="sldNum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-1" y="1414435"/>
            <a:ext cx="11459400" cy="4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D1D1F"/>
                </a:solidFill>
                <a:highlight>
                  <a:srgbClr val="FFFFFF"/>
                </a:highlight>
              </a:rPr>
              <a:t>"See complete architecture and screenshots in our GitHub repository:"</a:t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D1D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D1D1F"/>
                </a:solidFill>
                <a:highlight>
                  <a:srgbClr val="FFFFFF"/>
                </a:highlight>
              </a:rPr>
              <a:t>GitHub Repo: </a:t>
            </a:r>
            <a:r>
              <a:rPr lang="en-US" sz="2100">
                <a:solidFill>
                  <a:srgbClr val="1D1D1F"/>
                </a:solidFill>
                <a:highlight>
                  <a:srgbClr val="EFEEFF"/>
                </a:highlight>
              </a:rPr>
              <a:t>https://github.com/Ediebah/authflow-ai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0"/>
              </a:spcAft>
              <a:buNone/>
            </a:pPr>
            <a:r>
              <a:rPr lang="en-US" sz="2100">
                <a:solidFill>
                  <a:srgbClr val="1D1D1F"/>
                </a:solidFill>
              </a:rPr>
              <a:t>Architecture diagram &amp; execution screenshots: </a:t>
            </a:r>
            <a:r>
              <a:rPr lang="en-US" sz="2100">
                <a:solidFill>
                  <a:srgbClr val="1D1D1F"/>
                </a:solidFill>
                <a:highlight>
                  <a:srgbClr val="EFEEFF"/>
                </a:highlight>
              </a:rPr>
              <a:t>https://github.com/Ediebah/authflow-ai/tree/main/docs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2025-06-06T15:41:05Z</dcterms:created>
  <dc:creator>Andreea Tomescu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